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59" r:id="rId9"/>
    <p:sldId id="265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E7F876-4914-03C5-40A7-46804688A6A1}"/>
              </a:ext>
            </a:extLst>
          </p:cNvPr>
          <p:cNvSpPr txBox="1"/>
          <p:nvPr/>
        </p:nvSpPr>
        <p:spPr>
          <a:xfrm>
            <a:off x="10019792" y="575893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95FA3-03EE-5B7A-69B9-4BEC57149472}"/>
              </a:ext>
            </a:extLst>
          </p:cNvPr>
          <p:cNvSpPr/>
          <p:nvPr/>
        </p:nvSpPr>
        <p:spPr>
          <a:xfrm>
            <a:off x="10019792" y="5758934"/>
            <a:ext cx="851408" cy="4894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7F00B04-E790-3E7A-5CF4-F1B5052E5C0D}"/>
              </a:ext>
            </a:extLst>
          </p:cNvPr>
          <p:cNvSpPr/>
          <p:nvPr/>
        </p:nvSpPr>
        <p:spPr>
          <a:xfrm>
            <a:off x="660400" y="3429000"/>
            <a:ext cx="24384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Drain3 </a:t>
            </a:r>
            <a:b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IN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for Parsing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EE9F8C-CE31-8E29-2841-3318A6F0748D}"/>
              </a:ext>
            </a:extLst>
          </p:cNvPr>
          <p:cNvCxnSpPr/>
          <p:nvPr/>
        </p:nvCxnSpPr>
        <p:spPr>
          <a:xfrm>
            <a:off x="1193800" y="3581400"/>
            <a:ext cx="152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623E51-8074-52E8-9F19-183DDD1206B2}"/>
              </a:ext>
            </a:extLst>
          </p:cNvPr>
          <p:cNvSpPr/>
          <p:nvPr/>
        </p:nvSpPr>
        <p:spPr>
          <a:xfrm>
            <a:off x="660400" y="1676400"/>
            <a:ext cx="15011400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AC2F72-5721-86D6-B995-14895C296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321191"/>
              </p:ext>
            </p:extLst>
          </p:nvPr>
        </p:nvGraphicFramePr>
        <p:xfrm>
          <a:off x="889000" y="1461188"/>
          <a:ext cx="13715999" cy="68506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9314">
                  <a:extLst>
                    <a:ext uri="{9D8B030D-6E8A-4147-A177-3AD203B41FA5}">
                      <a16:colId xmlns:a16="http://schemas.microsoft.com/office/drawing/2014/main" val="3373886931"/>
                    </a:ext>
                  </a:extLst>
                </a:gridCol>
                <a:gridCol w="2249443">
                  <a:extLst>
                    <a:ext uri="{9D8B030D-6E8A-4147-A177-3AD203B41FA5}">
                      <a16:colId xmlns:a16="http://schemas.microsoft.com/office/drawing/2014/main" val="4121844900"/>
                    </a:ext>
                  </a:extLst>
                </a:gridCol>
                <a:gridCol w="2107246">
                  <a:extLst>
                    <a:ext uri="{9D8B030D-6E8A-4147-A177-3AD203B41FA5}">
                      <a16:colId xmlns:a16="http://schemas.microsoft.com/office/drawing/2014/main" val="815225502"/>
                    </a:ext>
                  </a:extLst>
                </a:gridCol>
                <a:gridCol w="4084392">
                  <a:extLst>
                    <a:ext uri="{9D8B030D-6E8A-4147-A177-3AD203B41FA5}">
                      <a16:colId xmlns:a16="http://schemas.microsoft.com/office/drawing/2014/main" val="1413721268"/>
                    </a:ext>
                  </a:extLst>
                </a:gridCol>
                <a:gridCol w="4465604">
                  <a:extLst>
                    <a:ext uri="{9D8B030D-6E8A-4147-A177-3AD203B41FA5}">
                      <a16:colId xmlns:a16="http://schemas.microsoft.com/office/drawing/2014/main" val="3454389227"/>
                    </a:ext>
                  </a:extLst>
                </a:gridCol>
              </a:tblGrid>
              <a:tr h="55723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Sr. No.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Author(s) &amp; Year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Title 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Methodology / Key Contribution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Limitation / Gap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extLst>
                  <a:ext uri="{0D108BD9-81ED-4DB2-BD59-A6C34878D82A}">
                    <a16:rowId xmlns:a16="http://schemas.microsoft.com/office/drawing/2014/main" val="6496485"/>
                  </a:ext>
                </a:extLst>
              </a:tr>
              <a:tr h="148282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 err="1">
                          <a:effectLst/>
                        </a:rPr>
                        <a:t>Jieming</a:t>
                      </a:r>
                      <a:r>
                        <a:rPr lang="en-IN" sz="1600" dirty="0">
                          <a:effectLst/>
                        </a:rPr>
                        <a:t> Zhu,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Shilin He,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 err="1">
                          <a:effectLst/>
                        </a:rPr>
                        <a:t>Pinjia</a:t>
                      </a:r>
                      <a:r>
                        <a:rPr lang="en-IN" sz="1600" dirty="0">
                          <a:effectLst/>
                        </a:rPr>
                        <a:t> He (2023)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[IEEE]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Loghub: A Large Collection of System Log Datasets for AI-driven Log Analytics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Online log parser using a fixed-depth parse tree that encodes length and preceding-token rules to streamingly group messages and extract templates without source code or offline training</a:t>
                      </a:r>
                      <a:endParaRPr lang="en-IN" sz="1600">
                        <a:effectLst/>
                      </a:endParaRP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Needs domain-knowledge regex preprocessing and parameter tuning (depth/threshold); may underperform on highly variable or digit-heavy logs beyond the evaluated datasets.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extLst>
                  <a:ext uri="{0D108BD9-81ED-4DB2-BD59-A6C34878D82A}">
                    <a16:rowId xmlns:a16="http://schemas.microsoft.com/office/drawing/2014/main" val="2357332765"/>
                  </a:ext>
                </a:extLst>
              </a:tr>
              <a:tr h="1151823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Michael R. Lyu,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Zibin Zheng ,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(2017)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[IEEE]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Drain: An Online Log Parsing Approach with Fixed Depth Tree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LogHub provides 19 diverse real-world log datasets (~77 GB) for benchmarking AI-driven log analytics, including parsing, compression, and anomaly detection.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Most datasets are unlabeled, some are lab-collected, and coverage of emerging systems and highly variable, multi-threaded logs remains limited.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extLst>
                  <a:ext uri="{0D108BD9-81ED-4DB2-BD59-A6C34878D82A}">
                    <a16:rowId xmlns:a16="http://schemas.microsoft.com/office/drawing/2014/main" val="3879841338"/>
                  </a:ext>
                </a:extLst>
              </a:tr>
              <a:tr h="159776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Min Du, Feifei L, Vivek Srikuma (2017)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[IEEE]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DeepLog: Anomaly Detection and Diagnosis from System Logs through Deep Learning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Uses stacked LSTM to model log sequences and parameter-value time series for online anomaly detection, with workflow models for diagnosis and root-cause analysis.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Requires normal logs for training and problem-specific tuning of history parameters; it can miss previously unseen events and generate false positives for sudden bursty behavior.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extLst>
                  <a:ext uri="{0D108BD9-81ED-4DB2-BD59-A6C34878D82A}">
                    <a16:rowId xmlns:a16="http://schemas.microsoft.com/office/drawing/2014/main" val="3735635064"/>
                  </a:ext>
                </a:extLst>
              </a:tr>
              <a:tr h="159776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Max Landauer,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Sebastian Onder (2023)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[ELSERVIER]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Deep learning for anomaly detection in log data: A survey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>
                          <a:effectLst/>
                        </a:rPr>
                        <a:t>Conducts a systematic literature review of deep-learning-based log anomaly detection, covering model architectures, preprocessing, anomaly-detection techniques, datasets, and evaluation methods.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Does not quantitatively compare existing methods; also highlights the unresolved challenge of effectively encoding diverse, raw and unstructured log data for deep-learning models.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73" marR="44473" marT="44473" marB="44473" anchor="ctr"/>
                </a:tc>
                <a:extLst>
                  <a:ext uri="{0D108BD9-81ED-4DB2-BD59-A6C34878D82A}">
                    <a16:rowId xmlns:a16="http://schemas.microsoft.com/office/drawing/2014/main" val="1793684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338</Words>
  <Application>Microsoft Office PowerPoint</Application>
  <PresentationFormat>Custom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Piyush Bhoyar</dc:creator>
  <cp:lastModifiedBy>Piyush Bhoyar</cp:lastModifiedBy>
  <cp:revision>2</cp:revision>
  <dcterms:created xsi:type="dcterms:W3CDTF">2006-08-16T00:00:00Z</dcterms:created>
  <dcterms:modified xsi:type="dcterms:W3CDTF">2026-08-21T14:11:58Z</dcterms:modified>
</cp:coreProperties>
</file>